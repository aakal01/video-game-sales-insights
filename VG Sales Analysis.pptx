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60" r:id="rId8"/>
    <p:sldId id="262" r:id="rId9"/>
    <p:sldId id="261" r:id="rId10"/>
    <p:sldId id="268" r:id="rId11"/>
    <p:sldId id="269" r:id="rId12"/>
    <p:sldId id="263" r:id="rId13"/>
    <p:sldId id="270" r:id="rId14"/>
    <p:sldId id="264" r:id="rId15"/>
    <p:sldId id="265" r:id="rId16"/>
    <p:sldId id="266" r:id="rId17"/>
    <p:sldId id="26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9A11AB-4955-4446-84C7-6D9302798DA7}" v="443" dt="2026-06-21T06:00:10.1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2D307-266A-3748-C596-51C2013D6A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AC2EA3-F22F-7DAC-87D6-34E10AFECE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77DA0BC-D395-4F36-4D26-62173FFBCB82}"/>
              </a:ext>
            </a:extLst>
          </p:cNvPr>
          <p:cNvSpPr>
            <a:spLocks noGrp="1"/>
          </p:cNvSpPr>
          <p:nvPr>
            <p:ph type="dt" sz="half" idx="10"/>
          </p:nvPr>
        </p:nvSpPr>
        <p:spPr/>
        <p:txBody>
          <a:bodyPr/>
          <a:lstStyle/>
          <a:p>
            <a:fld id="{1B3B4724-0341-4C07-AE07-7ED0BD8C9ACB}" type="datetimeFigureOut">
              <a:rPr lang="en-US" smtClean="0"/>
              <a:t>6/20/2026</a:t>
            </a:fld>
            <a:endParaRPr lang="en-US"/>
          </a:p>
        </p:txBody>
      </p:sp>
      <p:sp>
        <p:nvSpPr>
          <p:cNvPr id="5" name="Footer Placeholder 4">
            <a:extLst>
              <a:ext uri="{FF2B5EF4-FFF2-40B4-BE49-F238E27FC236}">
                <a16:creationId xmlns:a16="http://schemas.microsoft.com/office/drawing/2014/main" id="{E131774F-7AE3-AAF5-B8B9-71CA071244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EA0389-A927-94CC-88BB-436139CD3344}"/>
              </a:ext>
            </a:extLst>
          </p:cNvPr>
          <p:cNvSpPr>
            <a:spLocks noGrp="1"/>
          </p:cNvSpPr>
          <p:nvPr>
            <p:ph type="sldNum" sz="quarter" idx="12"/>
          </p:nvPr>
        </p:nvSpPr>
        <p:spPr/>
        <p:txBody>
          <a:bodyPr/>
          <a:lstStyle/>
          <a:p>
            <a:fld id="{4F7790DB-772B-45E0-918C-67A798A5A5D5}" type="slidenum">
              <a:rPr lang="en-US" smtClean="0"/>
              <a:t>‹#›</a:t>
            </a:fld>
            <a:endParaRPr lang="en-US"/>
          </a:p>
        </p:txBody>
      </p:sp>
    </p:spTree>
    <p:extLst>
      <p:ext uri="{BB962C8B-B14F-4D97-AF65-F5344CB8AC3E}">
        <p14:creationId xmlns:p14="http://schemas.microsoft.com/office/powerpoint/2010/main" val="2712538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BD09B-F1FB-6311-461C-E9832C0EAB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56F122-6433-A59A-3BDC-61005A883F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212312-5BF9-A13F-6E00-D6671A6A417A}"/>
              </a:ext>
            </a:extLst>
          </p:cNvPr>
          <p:cNvSpPr>
            <a:spLocks noGrp="1"/>
          </p:cNvSpPr>
          <p:nvPr>
            <p:ph type="dt" sz="half" idx="10"/>
          </p:nvPr>
        </p:nvSpPr>
        <p:spPr/>
        <p:txBody>
          <a:bodyPr/>
          <a:lstStyle/>
          <a:p>
            <a:fld id="{1B3B4724-0341-4C07-AE07-7ED0BD8C9ACB}" type="datetimeFigureOut">
              <a:rPr lang="en-US" smtClean="0"/>
              <a:t>6/20/2026</a:t>
            </a:fld>
            <a:endParaRPr lang="en-US"/>
          </a:p>
        </p:txBody>
      </p:sp>
      <p:sp>
        <p:nvSpPr>
          <p:cNvPr id="5" name="Footer Placeholder 4">
            <a:extLst>
              <a:ext uri="{FF2B5EF4-FFF2-40B4-BE49-F238E27FC236}">
                <a16:creationId xmlns:a16="http://schemas.microsoft.com/office/drawing/2014/main" id="{B8AC0997-667D-F5E6-6887-45E1BCC1C9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9A95BB-6C57-E20C-9D9C-3649BF078C7A}"/>
              </a:ext>
            </a:extLst>
          </p:cNvPr>
          <p:cNvSpPr>
            <a:spLocks noGrp="1"/>
          </p:cNvSpPr>
          <p:nvPr>
            <p:ph type="sldNum" sz="quarter" idx="12"/>
          </p:nvPr>
        </p:nvSpPr>
        <p:spPr/>
        <p:txBody>
          <a:bodyPr/>
          <a:lstStyle/>
          <a:p>
            <a:fld id="{4F7790DB-772B-45E0-918C-67A798A5A5D5}" type="slidenum">
              <a:rPr lang="en-US" smtClean="0"/>
              <a:t>‹#›</a:t>
            </a:fld>
            <a:endParaRPr lang="en-US"/>
          </a:p>
        </p:txBody>
      </p:sp>
    </p:spTree>
    <p:extLst>
      <p:ext uri="{BB962C8B-B14F-4D97-AF65-F5344CB8AC3E}">
        <p14:creationId xmlns:p14="http://schemas.microsoft.com/office/powerpoint/2010/main" val="861673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6A23D-5C05-E6B7-C790-23AB78CD8A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44D1231-4B99-47C9-B27C-3E3784C781C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F56BEB-B3DD-5564-1613-040A9E26C069}"/>
              </a:ext>
            </a:extLst>
          </p:cNvPr>
          <p:cNvSpPr>
            <a:spLocks noGrp="1"/>
          </p:cNvSpPr>
          <p:nvPr>
            <p:ph type="dt" sz="half" idx="10"/>
          </p:nvPr>
        </p:nvSpPr>
        <p:spPr/>
        <p:txBody>
          <a:bodyPr/>
          <a:lstStyle/>
          <a:p>
            <a:fld id="{1B3B4724-0341-4C07-AE07-7ED0BD8C9ACB}" type="datetimeFigureOut">
              <a:rPr lang="en-US" smtClean="0"/>
              <a:t>6/20/2026</a:t>
            </a:fld>
            <a:endParaRPr lang="en-US"/>
          </a:p>
        </p:txBody>
      </p:sp>
      <p:sp>
        <p:nvSpPr>
          <p:cNvPr id="5" name="Footer Placeholder 4">
            <a:extLst>
              <a:ext uri="{FF2B5EF4-FFF2-40B4-BE49-F238E27FC236}">
                <a16:creationId xmlns:a16="http://schemas.microsoft.com/office/drawing/2014/main" id="{F189D958-53FB-550A-1374-1577BE23B6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5F15E7-0A78-C06F-572A-56479AA2D117}"/>
              </a:ext>
            </a:extLst>
          </p:cNvPr>
          <p:cNvSpPr>
            <a:spLocks noGrp="1"/>
          </p:cNvSpPr>
          <p:nvPr>
            <p:ph type="sldNum" sz="quarter" idx="12"/>
          </p:nvPr>
        </p:nvSpPr>
        <p:spPr/>
        <p:txBody>
          <a:bodyPr/>
          <a:lstStyle/>
          <a:p>
            <a:fld id="{4F7790DB-772B-45E0-918C-67A798A5A5D5}" type="slidenum">
              <a:rPr lang="en-US" smtClean="0"/>
              <a:t>‹#›</a:t>
            </a:fld>
            <a:endParaRPr lang="en-US"/>
          </a:p>
        </p:txBody>
      </p:sp>
    </p:spTree>
    <p:extLst>
      <p:ext uri="{BB962C8B-B14F-4D97-AF65-F5344CB8AC3E}">
        <p14:creationId xmlns:p14="http://schemas.microsoft.com/office/powerpoint/2010/main" val="2705877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EA682-9D09-D2D9-04F2-3BC7848F0C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329416-8F32-3784-2940-01A121802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B370BC3-078B-6621-9A71-030D327A75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9240D9D-6D4D-7D3A-37E3-B376984E6ED2}"/>
              </a:ext>
            </a:extLst>
          </p:cNvPr>
          <p:cNvSpPr>
            <a:spLocks noGrp="1"/>
          </p:cNvSpPr>
          <p:nvPr>
            <p:ph type="dt" sz="half" idx="10"/>
          </p:nvPr>
        </p:nvSpPr>
        <p:spPr/>
        <p:txBody>
          <a:bodyPr/>
          <a:lstStyle/>
          <a:p>
            <a:fld id="{1B3B4724-0341-4C07-AE07-7ED0BD8C9ACB}" type="datetimeFigureOut">
              <a:rPr lang="en-US" smtClean="0"/>
              <a:t>6/20/2026</a:t>
            </a:fld>
            <a:endParaRPr lang="en-US"/>
          </a:p>
        </p:txBody>
      </p:sp>
      <p:sp>
        <p:nvSpPr>
          <p:cNvPr id="6" name="Footer Placeholder 5">
            <a:extLst>
              <a:ext uri="{FF2B5EF4-FFF2-40B4-BE49-F238E27FC236}">
                <a16:creationId xmlns:a16="http://schemas.microsoft.com/office/drawing/2014/main" id="{C1A4FAD3-216B-9EEE-3A69-F2A4360F14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ADF210-397E-BFE2-EFBA-67CB4E2C53FF}"/>
              </a:ext>
            </a:extLst>
          </p:cNvPr>
          <p:cNvSpPr>
            <a:spLocks noGrp="1"/>
          </p:cNvSpPr>
          <p:nvPr>
            <p:ph type="sldNum" sz="quarter" idx="12"/>
          </p:nvPr>
        </p:nvSpPr>
        <p:spPr/>
        <p:txBody>
          <a:bodyPr/>
          <a:lstStyle/>
          <a:p>
            <a:fld id="{4F7790DB-772B-45E0-918C-67A798A5A5D5}" type="slidenum">
              <a:rPr lang="en-US" smtClean="0"/>
              <a:t>‹#›</a:t>
            </a:fld>
            <a:endParaRPr lang="en-US"/>
          </a:p>
        </p:txBody>
      </p:sp>
    </p:spTree>
    <p:extLst>
      <p:ext uri="{BB962C8B-B14F-4D97-AF65-F5344CB8AC3E}">
        <p14:creationId xmlns:p14="http://schemas.microsoft.com/office/powerpoint/2010/main" val="1185402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61D27-E2AA-C9DA-B1A0-9EA5990FE26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257BBD-2C5B-B43A-7B85-699A289D86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31B435-3B47-8C3A-628A-7E15D6488E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8879C0E-22CF-F518-E584-D85BFDD931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CF7706-F050-3F19-D010-15A222A135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DBFAB-5ECB-05BD-9DC0-1150A2888F3F}"/>
              </a:ext>
            </a:extLst>
          </p:cNvPr>
          <p:cNvSpPr>
            <a:spLocks noGrp="1"/>
          </p:cNvSpPr>
          <p:nvPr>
            <p:ph type="dt" sz="half" idx="10"/>
          </p:nvPr>
        </p:nvSpPr>
        <p:spPr/>
        <p:txBody>
          <a:bodyPr/>
          <a:lstStyle/>
          <a:p>
            <a:fld id="{1B3B4724-0341-4C07-AE07-7ED0BD8C9ACB}" type="datetimeFigureOut">
              <a:rPr lang="en-US" smtClean="0"/>
              <a:t>6/20/2026</a:t>
            </a:fld>
            <a:endParaRPr lang="en-US"/>
          </a:p>
        </p:txBody>
      </p:sp>
      <p:sp>
        <p:nvSpPr>
          <p:cNvPr id="8" name="Footer Placeholder 7">
            <a:extLst>
              <a:ext uri="{FF2B5EF4-FFF2-40B4-BE49-F238E27FC236}">
                <a16:creationId xmlns:a16="http://schemas.microsoft.com/office/drawing/2014/main" id="{AE8C913A-C5C6-EB9C-3594-B331385A68B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625B8D6-1E3A-008B-9819-CA5C4A2F9554}"/>
              </a:ext>
            </a:extLst>
          </p:cNvPr>
          <p:cNvSpPr>
            <a:spLocks noGrp="1"/>
          </p:cNvSpPr>
          <p:nvPr>
            <p:ph type="sldNum" sz="quarter" idx="12"/>
          </p:nvPr>
        </p:nvSpPr>
        <p:spPr/>
        <p:txBody>
          <a:bodyPr/>
          <a:lstStyle/>
          <a:p>
            <a:fld id="{4F7790DB-772B-45E0-918C-67A798A5A5D5}" type="slidenum">
              <a:rPr lang="en-US" smtClean="0"/>
              <a:t>‹#›</a:t>
            </a:fld>
            <a:endParaRPr lang="en-US"/>
          </a:p>
        </p:txBody>
      </p:sp>
    </p:spTree>
    <p:extLst>
      <p:ext uri="{BB962C8B-B14F-4D97-AF65-F5344CB8AC3E}">
        <p14:creationId xmlns:p14="http://schemas.microsoft.com/office/powerpoint/2010/main" val="1522271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6EB6F-FECB-8B71-386F-0A3746A4B7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FE8A6B-E98E-C9A4-B88A-46FB5121046A}"/>
              </a:ext>
            </a:extLst>
          </p:cNvPr>
          <p:cNvSpPr>
            <a:spLocks noGrp="1"/>
          </p:cNvSpPr>
          <p:nvPr>
            <p:ph type="dt" sz="half" idx="10"/>
          </p:nvPr>
        </p:nvSpPr>
        <p:spPr/>
        <p:txBody>
          <a:bodyPr/>
          <a:lstStyle/>
          <a:p>
            <a:fld id="{1B3B4724-0341-4C07-AE07-7ED0BD8C9ACB}" type="datetimeFigureOut">
              <a:rPr lang="en-US" smtClean="0"/>
              <a:t>6/20/2026</a:t>
            </a:fld>
            <a:endParaRPr lang="en-US"/>
          </a:p>
        </p:txBody>
      </p:sp>
      <p:sp>
        <p:nvSpPr>
          <p:cNvPr id="4" name="Footer Placeholder 3">
            <a:extLst>
              <a:ext uri="{FF2B5EF4-FFF2-40B4-BE49-F238E27FC236}">
                <a16:creationId xmlns:a16="http://schemas.microsoft.com/office/drawing/2014/main" id="{07F4BDC7-181C-038C-DE26-592219AD508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F0FB2F5-0C17-32C8-486C-E0126692F7D3}"/>
              </a:ext>
            </a:extLst>
          </p:cNvPr>
          <p:cNvSpPr>
            <a:spLocks noGrp="1"/>
          </p:cNvSpPr>
          <p:nvPr>
            <p:ph type="sldNum" sz="quarter" idx="12"/>
          </p:nvPr>
        </p:nvSpPr>
        <p:spPr/>
        <p:txBody>
          <a:bodyPr/>
          <a:lstStyle/>
          <a:p>
            <a:fld id="{4F7790DB-772B-45E0-918C-67A798A5A5D5}" type="slidenum">
              <a:rPr lang="en-US" smtClean="0"/>
              <a:t>‹#›</a:t>
            </a:fld>
            <a:endParaRPr lang="en-US"/>
          </a:p>
        </p:txBody>
      </p:sp>
    </p:spTree>
    <p:extLst>
      <p:ext uri="{BB962C8B-B14F-4D97-AF65-F5344CB8AC3E}">
        <p14:creationId xmlns:p14="http://schemas.microsoft.com/office/powerpoint/2010/main" val="216764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A7383B-693B-C107-6201-15E9FC67580C}"/>
              </a:ext>
            </a:extLst>
          </p:cNvPr>
          <p:cNvSpPr>
            <a:spLocks noGrp="1"/>
          </p:cNvSpPr>
          <p:nvPr>
            <p:ph type="dt" sz="half" idx="10"/>
          </p:nvPr>
        </p:nvSpPr>
        <p:spPr/>
        <p:txBody>
          <a:bodyPr/>
          <a:lstStyle/>
          <a:p>
            <a:fld id="{1B3B4724-0341-4C07-AE07-7ED0BD8C9ACB}" type="datetimeFigureOut">
              <a:rPr lang="en-US" smtClean="0"/>
              <a:t>6/20/2026</a:t>
            </a:fld>
            <a:endParaRPr lang="en-US"/>
          </a:p>
        </p:txBody>
      </p:sp>
      <p:sp>
        <p:nvSpPr>
          <p:cNvPr id="3" name="Footer Placeholder 2">
            <a:extLst>
              <a:ext uri="{FF2B5EF4-FFF2-40B4-BE49-F238E27FC236}">
                <a16:creationId xmlns:a16="http://schemas.microsoft.com/office/drawing/2014/main" id="{7C319F5A-7B61-160F-3E9F-DBCD87D231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1E4C183-9195-D87D-6F19-A07FAD02C554}"/>
              </a:ext>
            </a:extLst>
          </p:cNvPr>
          <p:cNvSpPr>
            <a:spLocks noGrp="1"/>
          </p:cNvSpPr>
          <p:nvPr>
            <p:ph type="sldNum" sz="quarter" idx="12"/>
          </p:nvPr>
        </p:nvSpPr>
        <p:spPr/>
        <p:txBody>
          <a:bodyPr/>
          <a:lstStyle/>
          <a:p>
            <a:fld id="{4F7790DB-772B-45E0-918C-67A798A5A5D5}" type="slidenum">
              <a:rPr lang="en-US" smtClean="0"/>
              <a:t>‹#›</a:t>
            </a:fld>
            <a:endParaRPr lang="en-US"/>
          </a:p>
        </p:txBody>
      </p:sp>
    </p:spTree>
    <p:extLst>
      <p:ext uri="{BB962C8B-B14F-4D97-AF65-F5344CB8AC3E}">
        <p14:creationId xmlns:p14="http://schemas.microsoft.com/office/powerpoint/2010/main" val="356430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BB63A-C673-61D3-A796-AA8F5E4B1F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97B4CD3-E0D3-EDE4-7CFF-4F4D86886A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7558455-3FC0-2AFE-FE01-87074A7C83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D136A3-9490-6718-96C9-2D322796EA54}"/>
              </a:ext>
            </a:extLst>
          </p:cNvPr>
          <p:cNvSpPr>
            <a:spLocks noGrp="1"/>
          </p:cNvSpPr>
          <p:nvPr>
            <p:ph type="dt" sz="half" idx="10"/>
          </p:nvPr>
        </p:nvSpPr>
        <p:spPr/>
        <p:txBody>
          <a:bodyPr/>
          <a:lstStyle/>
          <a:p>
            <a:fld id="{1B3B4724-0341-4C07-AE07-7ED0BD8C9ACB}" type="datetimeFigureOut">
              <a:rPr lang="en-US" smtClean="0"/>
              <a:t>6/20/2026</a:t>
            </a:fld>
            <a:endParaRPr lang="en-US"/>
          </a:p>
        </p:txBody>
      </p:sp>
      <p:sp>
        <p:nvSpPr>
          <p:cNvPr id="6" name="Footer Placeholder 5">
            <a:extLst>
              <a:ext uri="{FF2B5EF4-FFF2-40B4-BE49-F238E27FC236}">
                <a16:creationId xmlns:a16="http://schemas.microsoft.com/office/drawing/2014/main" id="{F1584214-0D20-BC97-F2E0-8F03C41883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ED177D-FAB5-F322-FC20-806FAF00E945}"/>
              </a:ext>
            </a:extLst>
          </p:cNvPr>
          <p:cNvSpPr>
            <a:spLocks noGrp="1"/>
          </p:cNvSpPr>
          <p:nvPr>
            <p:ph type="sldNum" sz="quarter" idx="12"/>
          </p:nvPr>
        </p:nvSpPr>
        <p:spPr/>
        <p:txBody>
          <a:bodyPr/>
          <a:lstStyle/>
          <a:p>
            <a:fld id="{4F7790DB-772B-45E0-918C-67A798A5A5D5}" type="slidenum">
              <a:rPr lang="en-US" smtClean="0"/>
              <a:t>‹#›</a:t>
            </a:fld>
            <a:endParaRPr lang="en-US"/>
          </a:p>
        </p:txBody>
      </p:sp>
    </p:spTree>
    <p:extLst>
      <p:ext uri="{BB962C8B-B14F-4D97-AF65-F5344CB8AC3E}">
        <p14:creationId xmlns:p14="http://schemas.microsoft.com/office/powerpoint/2010/main" val="3565217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BDB68-70D0-2337-6A3C-B895A01CEF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C9DB24C-D1FF-5F2F-637F-E84E920C65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7C512CB-BB09-6748-C1B8-A92B059E09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8ACAD5-D55C-95FA-FD89-435728C7AE53}"/>
              </a:ext>
            </a:extLst>
          </p:cNvPr>
          <p:cNvSpPr>
            <a:spLocks noGrp="1"/>
          </p:cNvSpPr>
          <p:nvPr>
            <p:ph type="dt" sz="half" idx="10"/>
          </p:nvPr>
        </p:nvSpPr>
        <p:spPr/>
        <p:txBody>
          <a:bodyPr/>
          <a:lstStyle/>
          <a:p>
            <a:fld id="{1B3B4724-0341-4C07-AE07-7ED0BD8C9ACB}" type="datetimeFigureOut">
              <a:rPr lang="en-US" smtClean="0"/>
              <a:t>6/20/2026</a:t>
            </a:fld>
            <a:endParaRPr lang="en-US"/>
          </a:p>
        </p:txBody>
      </p:sp>
      <p:sp>
        <p:nvSpPr>
          <p:cNvPr id="6" name="Footer Placeholder 5">
            <a:extLst>
              <a:ext uri="{FF2B5EF4-FFF2-40B4-BE49-F238E27FC236}">
                <a16:creationId xmlns:a16="http://schemas.microsoft.com/office/drawing/2014/main" id="{CDA0DAB1-44C1-E2E0-7F4A-37C61E8F8E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620ED2-2A32-1690-85C0-40D3A7803CD5}"/>
              </a:ext>
            </a:extLst>
          </p:cNvPr>
          <p:cNvSpPr>
            <a:spLocks noGrp="1"/>
          </p:cNvSpPr>
          <p:nvPr>
            <p:ph type="sldNum" sz="quarter" idx="12"/>
          </p:nvPr>
        </p:nvSpPr>
        <p:spPr/>
        <p:txBody>
          <a:bodyPr/>
          <a:lstStyle/>
          <a:p>
            <a:fld id="{4F7790DB-772B-45E0-918C-67A798A5A5D5}" type="slidenum">
              <a:rPr lang="en-US" smtClean="0"/>
              <a:t>‹#›</a:t>
            </a:fld>
            <a:endParaRPr lang="en-US"/>
          </a:p>
        </p:txBody>
      </p:sp>
    </p:spTree>
    <p:extLst>
      <p:ext uri="{BB962C8B-B14F-4D97-AF65-F5344CB8AC3E}">
        <p14:creationId xmlns:p14="http://schemas.microsoft.com/office/powerpoint/2010/main" val="20641893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02E97-F8C3-7426-2928-FDB47C8B124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2DED203-7B1C-A5F9-FAA6-3CC4F57B46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69D8C6-B4E4-14F1-670E-7B7FC85FFEE9}"/>
              </a:ext>
            </a:extLst>
          </p:cNvPr>
          <p:cNvSpPr>
            <a:spLocks noGrp="1"/>
          </p:cNvSpPr>
          <p:nvPr>
            <p:ph type="dt" sz="half" idx="10"/>
          </p:nvPr>
        </p:nvSpPr>
        <p:spPr/>
        <p:txBody>
          <a:bodyPr/>
          <a:lstStyle/>
          <a:p>
            <a:fld id="{1B3B4724-0341-4C07-AE07-7ED0BD8C9ACB}" type="datetimeFigureOut">
              <a:rPr lang="en-US" smtClean="0"/>
              <a:t>6/20/2026</a:t>
            </a:fld>
            <a:endParaRPr lang="en-US"/>
          </a:p>
        </p:txBody>
      </p:sp>
      <p:sp>
        <p:nvSpPr>
          <p:cNvPr id="5" name="Footer Placeholder 4">
            <a:extLst>
              <a:ext uri="{FF2B5EF4-FFF2-40B4-BE49-F238E27FC236}">
                <a16:creationId xmlns:a16="http://schemas.microsoft.com/office/drawing/2014/main" id="{6634C163-8F30-ABBF-A7A3-F0C89E0BF7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5F9641-DD7F-3C67-6512-576B4DA83F26}"/>
              </a:ext>
            </a:extLst>
          </p:cNvPr>
          <p:cNvSpPr>
            <a:spLocks noGrp="1"/>
          </p:cNvSpPr>
          <p:nvPr>
            <p:ph type="sldNum" sz="quarter" idx="12"/>
          </p:nvPr>
        </p:nvSpPr>
        <p:spPr/>
        <p:txBody>
          <a:bodyPr/>
          <a:lstStyle/>
          <a:p>
            <a:fld id="{4F7790DB-772B-45E0-918C-67A798A5A5D5}" type="slidenum">
              <a:rPr lang="en-US" smtClean="0"/>
              <a:t>‹#›</a:t>
            </a:fld>
            <a:endParaRPr lang="en-US"/>
          </a:p>
        </p:txBody>
      </p:sp>
    </p:spTree>
    <p:extLst>
      <p:ext uri="{BB962C8B-B14F-4D97-AF65-F5344CB8AC3E}">
        <p14:creationId xmlns:p14="http://schemas.microsoft.com/office/powerpoint/2010/main" val="18123294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21FA9D-CC30-77EA-F61C-4F245A4B8F4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E0E359-8C8D-6754-04AE-52382C8732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44B438-C145-7769-8386-C96D2B803A21}"/>
              </a:ext>
            </a:extLst>
          </p:cNvPr>
          <p:cNvSpPr>
            <a:spLocks noGrp="1"/>
          </p:cNvSpPr>
          <p:nvPr>
            <p:ph type="dt" sz="half" idx="10"/>
          </p:nvPr>
        </p:nvSpPr>
        <p:spPr/>
        <p:txBody>
          <a:bodyPr/>
          <a:lstStyle/>
          <a:p>
            <a:fld id="{1B3B4724-0341-4C07-AE07-7ED0BD8C9ACB}" type="datetimeFigureOut">
              <a:rPr lang="en-US" smtClean="0"/>
              <a:t>6/20/2026</a:t>
            </a:fld>
            <a:endParaRPr lang="en-US"/>
          </a:p>
        </p:txBody>
      </p:sp>
      <p:sp>
        <p:nvSpPr>
          <p:cNvPr id="5" name="Footer Placeholder 4">
            <a:extLst>
              <a:ext uri="{FF2B5EF4-FFF2-40B4-BE49-F238E27FC236}">
                <a16:creationId xmlns:a16="http://schemas.microsoft.com/office/drawing/2014/main" id="{8F604F80-EAAD-BA37-8832-5633B546C5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15CE50-D253-14E5-42E6-53D32AF7FB11}"/>
              </a:ext>
            </a:extLst>
          </p:cNvPr>
          <p:cNvSpPr>
            <a:spLocks noGrp="1"/>
          </p:cNvSpPr>
          <p:nvPr>
            <p:ph type="sldNum" sz="quarter" idx="12"/>
          </p:nvPr>
        </p:nvSpPr>
        <p:spPr/>
        <p:txBody>
          <a:bodyPr/>
          <a:lstStyle/>
          <a:p>
            <a:fld id="{4F7790DB-772B-45E0-918C-67A798A5A5D5}" type="slidenum">
              <a:rPr lang="en-US" smtClean="0"/>
              <a:t>‹#›</a:t>
            </a:fld>
            <a:endParaRPr lang="en-US"/>
          </a:p>
        </p:txBody>
      </p:sp>
    </p:spTree>
    <p:extLst>
      <p:ext uri="{BB962C8B-B14F-4D97-AF65-F5344CB8AC3E}">
        <p14:creationId xmlns:p14="http://schemas.microsoft.com/office/powerpoint/2010/main" val="3654130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78486F-00B0-46A7-0467-B5EAE8AE1B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FFD310-7561-DFB5-249A-67149C16D5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CF0331-E59B-1B1F-EE35-6643CAE20F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3B4724-0341-4C07-AE07-7ED0BD8C9ACB}" type="datetimeFigureOut">
              <a:rPr lang="en-US" smtClean="0"/>
              <a:t>6/20/2026</a:t>
            </a:fld>
            <a:endParaRPr lang="en-US"/>
          </a:p>
        </p:txBody>
      </p:sp>
      <p:sp>
        <p:nvSpPr>
          <p:cNvPr id="5" name="Footer Placeholder 4">
            <a:extLst>
              <a:ext uri="{FF2B5EF4-FFF2-40B4-BE49-F238E27FC236}">
                <a16:creationId xmlns:a16="http://schemas.microsoft.com/office/drawing/2014/main" id="{E3B4A937-1860-B89D-30A5-4DCB03B86F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4818759-5EFE-42B6-39EC-CBFF1DD4DC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F7790DB-772B-45E0-918C-67A798A5A5D5}" type="slidenum">
              <a:rPr lang="en-US" smtClean="0"/>
              <a:t>‹#›</a:t>
            </a:fld>
            <a:endParaRPr lang="en-US"/>
          </a:p>
        </p:txBody>
      </p:sp>
    </p:spTree>
    <p:extLst>
      <p:ext uri="{BB962C8B-B14F-4D97-AF65-F5344CB8AC3E}">
        <p14:creationId xmlns:p14="http://schemas.microsoft.com/office/powerpoint/2010/main" val="27066247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16D74-E84D-DFE0-AA97-AF93B2062FAD}"/>
              </a:ext>
            </a:extLst>
          </p:cNvPr>
          <p:cNvSpPr>
            <a:spLocks noGrp="1"/>
          </p:cNvSpPr>
          <p:nvPr>
            <p:ph type="ctrTitle"/>
          </p:nvPr>
        </p:nvSpPr>
        <p:spPr/>
        <p:txBody>
          <a:bodyPr/>
          <a:lstStyle/>
          <a:p>
            <a:r>
              <a:rPr lang="en-US" b="1" dirty="0">
                <a:effectLst>
                  <a:outerShdw blurRad="38100" dist="38100" dir="2700000" algn="tl">
                    <a:srgbClr val="000000">
                      <a:alpha val="43137"/>
                    </a:srgbClr>
                  </a:outerShdw>
                </a:effectLst>
                <a:latin typeface="Bookman Old Style" panose="02050604050505020204" pitchFamily="18" charset="0"/>
              </a:rPr>
              <a:t>Video Games Sales Dashboard Insights</a:t>
            </a:r>
          </a:p>
        </p:txBody>
      </p:sp>
      <p:sp>
        <p:nvSpPr>
          <p:cNvPr id="3" name="Subtitle 2">
            <a:extLst>
              <a:ext uri="{FF2B5EF4-FFF2-40B4-BE49-F238E27FC236}">
                <a16:creationId xmlns:a16="http://schemas.microsoft.com/office/drawing/2014/main" id="{5441E752-7569-2E15-428E-5D690D5B6E96}"/>
              </a:ext>
            </a:extLst>
          </p:cNvPr>
          <p:cNvSpPr>
            <a:spLocks noGrp="1"/>
          </p:cNvSpPr>
          <p:nvPr>
            <p:ph type="subTitle" idx="1"/>
          </p:nvPr>
        </p:nvSpPr>
        <p:spPr>
          <a:xfrm>
            <a:off x="3447195" y="4597639"/>
            <a:ext cx="5062728" cy="461665"/>
          </a:xfrm>
        </p:spPr>
        <p:txBody>
          <a:bodyPr/>
          <a:lstStyle/>
          <a:p>
            <a:r>
              <a:rPr lang="en-US" b="1" dirty="0">
                <a:latin typeface="Rockwell" panose="02060603020205020403" pitchFamily="18" charset="0"/>
              </a:rPr>
              <a:t>Presented by : </a:t>
            </a:r>
            <a:r>
              <a:rPr lang="en-US" dirty="0">
                <a:latin typeface="Rockwell" panose="02060603020205020403" pitchFamily="18" charset="0"/>
              </a:rPr>
              <a:t>Abdalla Akal</a:t>
            </a:r>
          </a:p>
        </p:txBody>
      </p:sp>
      <p:sp>
        <p:nvSpPr>
          <p:cNvPr id="4" name="TextBox 3">
            <a:extLst>
              <a:ext uri="{FF2B5EF4-FFF2-40B4-BE49-F238E27FC236}">
                <a16:creationId xmlns:a16="http://schemas.microsoft.com/office/drawing/2014/main" id="{429759F5-BD4B-EA7A-1F90-A2F5FE028353}"/>
              </a:ext>
            </a:extLst>
          </p:cNvPr>
          <p:cNvSpPr txBox="1"/>
          <p:nvPr/>
        </p:nvSpPr>
        <p:spPr>
          <a:xfrm>
            <a:off x="2249424" y="3638302"/>
            <a:ext cx="8067594" cy="830997"/>
          </a:xfrm>
          <a:prstGeom prst="rect">
            <a:avLst/>
          </a:prstGeom>
          <a:noFill/>
        </p:spPr>
        <p:txBody>
          <a:bodyPr wrap="square" rtlCol="0">
            <a:spAutoFit/>
          </a:bodyPr>
          <a:lstStyle/>
          <a:p>
            <a:pPr algn="ctr"/>
            <a:r>
              <a:rPr lang="en-US" sz="2400" b="1" dirty="0">
                <a:latin typeface="Rockwell" panose="02060603020205020403" pitchFamily="18" charset="0"/>
              </a:rPr>
              <a:t>Purpose of The Project :</a:t>
            </a:r>
            <a:r>
              <a:rPr lang="en-US" sz="2400" dirty="0"/>
              <a:t> </a:t>
            </a:r>
          </a:p>
          <a:p>
            <a:pPr algn="ctr"/>
            <a:r>
              <a:rPr lang="en-US" sz="2400" dirty="0">
                <a:latin typeface="Rockwell" panose="02060603020205020403" pitchFamily="18" charset="0"/>
              </a:rPr>
              <a:t>Analyzing Key Metric Trends within Gaming Industry</a:t>
            </a:r>
          </a:p>
        </p:txBody>
      </p:sp>
      <p:pic>
        <p:nvPicPr>
          <p:cNvPr id="13" name="Picture 12" descr="This may contain: the logo for an internet company">
            <a:extLst>
              <a:ext uri="{FF2B5EF4-FFF2-40B4-BE49-F238E27FC236}">
                <a16:creationId xmlns:a16="http://schemas.microsoft.com/office/drawing/2014/main" id="{9AF12956-F9FF-CBAF-21CC-CA4B894F069F}"/>
              </a:ext>
            </a:extLst>
          </p:cNvPr>
          <p:cNvPicPr>
            <a:picLocks noChangeAspect="1"/>
          </p:cNvPicPr>
          <p:nvPr/>
        </p:nvPicPr>
        <p:blipFill>
          <a:blip r:embed="rId3">
            <a:alphaModFix amt="70000"/>
            <a:extLst>
              <a:ext uri="{BEBA8EAE-BF5A-486C-A8C5-ECC9F3942E4B}">
                <a14:imgProps xmlns:a14="http://schemas.microsoft.com/office/drawing/2010/main">
                  <a14:imgLayer r:embed="rId4">
                    <a14:imgEffect>
                      <a14:artisticPhotocopy/>
                    </a14:imgEffect>
                  </a14:imgLayer>
                </a14:imgProps>
              </a:ext>
            </a:extLst>
          </a:blip>
          <a:stretch>
            <a:fillRect/>
          </a:stretch>
        </p:blipFill>
        <p:spPr>
          <a:xfrm>
            <a:off x="8108876" y="4389559"/>
            <a:ext cx="2338472" cy="1753854"/>
          </a:xfrm>
          <a:prstGeom prst="ellipse">
            <a:avLst/>
          </a:prstGeom>
          <a:ln>
            <a:noFill/>
          </a:ln>
          <a:effectLst>
            <a:softEdge rad="112500"/>
          </a:effectLst>
        </p:spPr>
      </p:pic>
    </p:spTree>
    <p:extLst>
      <p:ext uri="{BB962C8B-B14F-4D97-AF65-F5344CB8AC3E}">
        <p14:creationId xmlns:p14="http://schemas.microsoft.com/office/powerpoint/2010/main" val="10163503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541AB-ECE3-F79C-2105-7AD5F4830AE9}"/>
              </a:ext>
            </a:extLst>
          </p:cNvPr>
          <p:cNvSpPr>
            <a:spLocks noGrp="1"/>
          </p:cNvSpPr>
          <p:nvPr>
            <p:ph type="title"/>
          </p:nvPr>
        </p:nvSpPr>
        <p:spPr>
          <a:xfrm>
            <a:off x="2309090" y="364090"/>
            <a:ext cx="7573820" cy="1325563"/>
          </a:xfrm>
        </p:spPr>
        <p:txBody>
          <a:bodyPr/>
          <a:lstStyle/>
          <a:p>
            <a:r>
              <a:rPr lang="en-US" b="1" dirty="0">
                <a:effectLst>
                  <a:outerShdw blurRad="38100" dist="38100" dir="2700000" algn="tl">
                    <a:srgbClr val="000000">
                      <a:alpha val="43137"/>
                    </a:srgbClr>
                  </a:outerShdw>
                </a:effectLst>
                <a:latin typeface="Bookman Old Style" panose="02050604050505020204" pitchFamily="18" charset="0"/>
              </a:rPr>
              <a:t>PROJECT DESCRIPTION</a:t>
            </a:r>
          </a:p>
        </p:txBody>
      </p:sp>
      <p:sp>
        <p:nvSpPr>
          <p:cNvPr id="3" name="Content Placeholder 2">
            <a:extLst>
              <a:ext uri="{FF2B5EF4-FFF2-40B4-BE49-F238E27FC236}">
                <a16:creationId xmlns:a16="http://schemas.microsoft.com/office/drawing/2014/main" id="{BD5AC88C-73EB-5782-A49B-8A941CBDB82E}"/>
              </a:ext>
            </a:extLst>
          </p:cNvPr>
          <p:cNvSpPr>
            <a:spLocks noGrp="1"/>
          </p:cNvSpPr>
          <p:nvPr>
            <p:ph idx="1"/>
          </p:nvPr>
        </p:nvSpPr>
        <p:spPr>
          <a:xfrm>
            <a:off x="976223" y="1929142"/>
            <a:ext cx="10515600" cy="3246707"/>
          </a:xfrm>
        </p:spPr>
        <p:txBody>
          <a:bodyPr/>
          <a:lstStyle/>
          <a:p>
            <a:r>
              <a:rPr lang="en-US" dirty="0">
                <a:effectLst>
                  <a:outerShdw blurRad="38100" dist="38100" dir="2700000" algn="tl">
                    <a:srgbClr val="000000">
                      <a:alpha val="43137"/>
                    </a:srgbClr>
                  </a:outerShdw>
                </a:effectLst>
                <a:latin typeface="Rockwell" panose="02060603020205020403" pitchFamily="18" charset="0"/>
              </a:rPr>
              <a:t>The goal of given project was to analyze video game sales across different regions, genres, platforms, publishers and time periods. </a:t>
            </a:r>
          </a:p>
          <a:p>
            <a:r>
              <a:rPr lang="en-US" dirty="0">
                <a:effectLst>
                  <a:outerShdw blurRad="38100" dist="38100" dir="2700000" algn="tl">
                    <a:srgbClr val="000000">
                      <a:alpha val="43137"/>
                    </a:srgbClr>
                  </a:outerShdw>
                </a:effectLst>
                <a:latin typeface="Rockwell" panose="02060603020205020403" pitchFamily="18" charset="0"/>
              </a:rPr>
              <a:t>The data was clean and transformed using Excel and Power Query before being analyzed in Power BI. </a:t>
            </a:r>
          </a:p>
          <a:p>
            <a:r>
              <a:rPr lang="en-US" dirty="0">
                <a:effectLst>
                  <a:outerShdw blurRad="38100" dist="38100" dir="2700000" algn="tl">
                    <a:srgbClr val="000000">
                      <a:alpha val="43137"/>
                    </a:srgbClr>
                  </a:outerShdw>
                </a:effectLst>
                <a:latin typeface="Rockwell" panose="02060603020205020403" pitchFamily="18" charset="0"/>
              </a:rPr>
              <a:t>After analyzing the data, an interactive dashboard with KPI cards, charts, slicers, and filters were built with Power BI</a:t>
            </a:r>
          </a:p>
        </p:txBody>
      </p:sp>
    </p:spTree>
    <p:extLst>
      <p:ext uri="{BB962C8B-B14F-4D97-AF65-F5344CB8AC3E}">
        <p14:creationId xmlns:p14="http://schemas.microsoft.com/office/powerpoint/2010/main" val="22760640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B651B-CC4C-FFE9-B79A-F75BBFA7B067}"/>
              </a:ext>
            </a:extLst>
          </p:cNvPr>
          <p:cNvSpPr>
            <a:spLocks noGrp="1"/>
          </p:cNvSpPr>
          <p:nvPr>
            <p:ph type="title"/>
          </p:nvPr>
        </p:nvSpPr>
        <p:spPr>
          <a:xfrm>
            <a:off x="4151462" y="244355"/>
            <a:ext cx="3613030" cy="1325563"/>
          </a:xfrm>
        </p:spPr>
        <p:txBody>
          <a:bodyPr/>
          <a:lstStyle/>
          <a:p>
            <a:r>
              <a:rPr lang="en-US" b="1" dirty="0">
                <a:effectLst>
                  <a:outerShdw blurRad="38100" dist="38100" dir="2700000" algn="tl">
                    <a:srgbClr val="000000">
                      <a:alpha val="43137"/>
                    </a:srgbClr>
                  </a:outerShdw>
                </a:effectLst>
                <a:latin typeface="Bookman Old Style" panose="02050604050505020204" pitchFamily="18" charset="0"/>
              </a:rPr>
              <a:t>OVERVIEW</a:t>
            </a:r>
          </a:p>
        </p:txBody>
      </p:sp>
      <p:sp>
        <p:nvSpPr>
          <p:cNvPr id="3" name="Content Placeholder 2">
            <a:extLst>
              <a:ext uri="{FF2B5EF4-FFF2-40B4-BE49-F238E27FC236}">
                <a16:creationId xmlns:a16="http://schemas.microsoft.com/office/drawing/2014/main" id="{EAA31DAB-46EC-5485-6E8A-8D0372E9EDFD}"/>
              </a:ext>
            </a:extLst>
          </p:cNvPr>
          <p:cNvSpPr>
            <a:spLocks noGrp="1"/>
          </p:cNvSpPr>
          <p:nvPr>
            <p:ph idx="1"/>
          </p:nvPr>
        </p:nvSpPr>
        <p:spPr/>
        <p:txBody>
          <a:bodyPr>
            <a:normAutofit lnSpcReduction="10000"/>
          </a:bodyPr>
          <a:lstStyle/>
          <a:p>
            <a:r>
              <a:rPr lang="en-US" dirty="0">
                <a:latin typeface="Rockwell" panose="02060603020205020403" pitchFamily="18" charset="0"/>
              </a:rPr>
              <a:t>Dataset contained more than 16,000 video game sales records.</a:t>
            </a:r>
          </a:p>
          <a:p>
            <a:r>
              <a:rPr lang="en-US" dirty="0">
                <a:latin typeface="Rockwell" panose="02060603020205020403" pitchFamily="18" charset="0"/>
              </a:rPr>
              <a:t>Records included games released across multiple platforms and time periods. </a:t>
            </a:r>
          </a:p>
          <a:p>
            <a:pPr marL="0" indent="0">
              <a:buNone/>
            </a:pPr>
            <a:r>
              <a:rPr lang="en-US" b="1" dirty="0">
                <a:effectLst>
                  <a:outerShdw blurRad="38100" dist="38100" dir="2700000" algn="tl">
                    <a:srgbClr val="000000">
                      <a:alpha val="43137"/>
                    </a:srgbClr>
                  </a:outerShdw>
                </a:effectLst>
                <a:latin typeface="Rockwell" panose="02060603020205020403" pitchFamily="18" charset="0"/>
              </a:rPr>
              <a:t>Key metrics tracked: </a:t>
            </a:r>
          </a:p>
          <a:p>
            <a:pPr marL="514350" indent="-514350">
              <a:buFont typeface="+mj-lt"/>
              <a:buAutoNum type="arabicPeriod"/>
            </a:pPr>
            <a:r>
              <a:rPr lang="en-US" dirty="0">
                <a:latin typeface="Rockwell" panose="02060603020205020403" pitchFamily="18" charset="0"/>
              </a:rPr>
              <a:t>Platforms</a:t>
            </a:r>
          </a:p>
          <a:p>
            <a:pPr marL="514350" indent="-514350">
              <a:buFont typeface="+mj-lt"/>
              <a:buAutoNum type="arabicPeriod"/>
            </a:pPr>
            <a:r>
              <a:rPr lang="en-US" dirty="0">
                <a:latin typeface="Rockwell" panose="02060603020205020403" pitchFamily="18" charset="0"/>
              </a:rPr>
              <a:t>Genres</a:t>
            </a:r>
          </a:p>
          <a:p>
            <a:pPr marL="514350" indent="-514350">
              <a:buFont typeface="+mj-lt"/>
              <a:buAutoNum type="arabicPeriod"/>
            </a:pPr>
            <a:r>
              <a:rPr lang="en-US" dirty="0">
                <a:latin typeface="Rockwell" panose="02060603020205020403" pitchFamily="18" charset="0"/>
              </a:rPr>
              <a:t>Publishers</a:t>
            </a:r>
          </a:p>
          <a:p>
            <a:pPr marL="514350" indent="-514350">
              <a:buFont typeface="+mj-lt"/>
              <a:buAutoNum type="arabicPeriod"/>
            </a:pPr>
            <a:r>
              <a:rPr lang="en-US" dirty="0">
                <a:latin typeface="Rockwell" panose="02060603020205020403" pitchFamily="18" charset="0"/>
              </a:rPr>
              <a:t>Region Sales – Divided into North America, Europe, Japan, and other markets.</a:t>
            </a:r>
          </a:p>
          <a:p>
            <a:pPr marL="514350" indent="-514350">
              <a:buFont typeface="+mj-lt"/>
              <a:buAutoNum type="arabicPeriod"/>
            </a:pPr>
            <a:endParaRPr lang="en-US" dirty="0">
              <a:latin typeface="Rockwell" panose="02060603020205020403" pitchFamily="18" charset="0"/>
            </a:endParaRPr>
          </a:p>
          <a:p>
            <a:pPr marL="0" indent="0">
              <a:buNone/>
            </a:pPr>
            <a:endParaRPr lang="en-US" dirty="0"/>
          </a:p>
        </p:txBody>
      </p:sp>
    </p:spTree>
    <p:extLst>
      <p:ext uri="{BB962C8B-B14F-4D97-AF65-F5344CB8AC3E}">
        <p14:creationId xmlns:p14="http://schemas.microsoft.com/office/powerpoint/2010/main" val="18005361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E6B58-9C78-4D9B-16A7-C697975D95C3}"/>
              </a:ext>
            </a:extLst>
          </p:cNvPr>
          <p:cNvSpPr>
            <a:spLocks noGrp="1"/>
          </p:cNvSpPr>
          <p:nvPr>
            <p:ph type="title"/>
          </p:nvPr>
        </p:nvSpPr>
        <p:spPr/>
        <p:txBody>
          <a:bodyPr/>
          <a:lstStyle/>
          <a:p>
            <a:pPr algn="ctr"/>
            <a:r>
              <a:rPr lang="en-US" b="1" dirty="0">
                <a:effectLst>
                  <a:outerShdw blurRad="38100" dist="38100" dir="2700000" algn="tl">
                    <a:srgbClr val="000000">
                      <a:alpha val="43137"/>
                    </a:srgbClr>
                  </a:outerShdw>
                </a:effectLst>
                <a:latin typeface="Rockwell" panose="02060603020205020403" pitchFamily="18" charset="0"/>
              </a:rPr>
              <a:t>RESEARCH QUESTIONS</a:t>
            </a:r>
          </a:p>
        </p:txBody>
      </p:sp>
      <p:sp>
        <p:nvSpPr>
          <p:cNvPr id="3" name="Content Placeholder 2">
            <a:extLst>
              <a:ext uri="{FF2B5EF4-FFF2-40B4-BE49-F238E27FC236}">
                <a16:creationId xmlns:a16="http://schemas.microsoft.com/office/drawing/2014/main" id="{11A0CDCA-FF55-9AED-59AF-1AE678BE0CED}"/>
              </a:ext>
            </a:extLst>
          </p:cNvPr>
          <p:cNvSpPr>
            <a:spLocks noGrp="1"/>
          </p:cNvSpPr>
          <p:nvPr>
            <p:ph idx="1"/>
          </p:nvPr>
        </p:nvSpPr>
        <p:spPr/>
        <p:txBody>
          <a:bodyPr/>
          <a:lstStyle/>
          <a:p>
            <a:r>
              <a:rPr lang="en-US" dirty="0">
                <a:latin typeface="Rockwell" panose="02060603020205020403" pitchFamily="18" charset="0"/>
              </a:rPr>
              <a:t>Which video game genres generated the highest global sales?</a:t>
            </a:r>
          </a:p>
          <a:p>
            <a:r>
              <a:rPr lang="en-US" dirty="0">
                <a:latin typeface="Rockwell" panose="02060603020205020403" pitchFamily="18" charset="0"/>
              </a:rPr>
              <a:t>Which platforms and publishers performed best overall?</a:t>
            </a:r>
          </a:p>
          <a:p>
            <a:r>
              <a:rPr lang="en-US" dirty="0">
                <a:latin typeface="Rockwell" panose="02060603020205020403" pitchFamily="18" charset="0"/>
              </a:rPr>
              <a:t>How did global video game sales change across different time periods?</a:t>
            </a:r>
          </a:p>
          <a:p>
            <a:r>
              <a:rPr lang="en-US" dirty="0">
                <a:latin typeface="Rockwell" panose="02060603020205020403" pitchFamily="18" charset="0"/>
              </a:rPr>
              <a:t>How did genre performance differ across North America, Europe, Japan, and other regions?</a:t>
            </a:r>
          </a:p>
          <a:p>
            <a:r>
              <a:rPr lang="en-US" dirty="0">
                <a:latin typeface="Rockwell" panose="02060603020205020403" pitchFamily="18" charset="0"/>
              </a:rPr>
              <a:t>Which platform and genre combinations showed the strongest sales performance?</a:t>
            </a:r>
          </a:p>
        </p:txBody>
      </p:sp>
    </p:spTree>
    <p:extLst>
      <p:ext uri="{BB962C8B-B14F-4D97-AF65-F5344CB8AC3E}">
        <p14:creationId xmlns:p14="http://schemas.microsoft.com/office/powerpoint/2010/main" val="217664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a:extLst>
            <a:ext uri="{FF2B5EF4-FFF2-40B4-BE49-F238E27FC236}">
              <a16:creationId xmlns:a16="http://schemas.microsoft.com/office/drawing/2014/main" id="{7F45DE04-446F-9DE1-041B-B2052AA5AF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9108FD-2896-72E7-0B64-18F0E7779EE3}"/>
              </a:ext>
            </a:extLst>
          </p:cNvPr>
          <p:cNvSpPr>
            <a:spLocks noGrp="1"/>
          </p:cNvSpPr>
          <p:nvPr>
            <p:ph type="title"/>
          </p:nvPr>
        </p:nvSpPr>
        <p:spPr/>
        <p:txBody>
          <a:bodyPr/>
          <a:lstStyle/>
          <a:p>
            <a:pPr algn="ctr"/>
            <a:r>
              <a:rPr lang="en-US" b="1" dirty="0">
                <a:effectLst>
                  <a:outerShdw blurRad="38100" dist="38100" dir="2700000" algn="tl">
                    <a:srgbClr val="000000">
                      <a:alpha val="43137"/>
                    </a:srgbClr>
                  </a:outerShdw>
                </a:effectLst>
                <a:latin typeface="Rockwell" panose="02060603020205020403" pitchFamily="18" charset="0"/>
              </a:rPr>
              <a:t>DATA CLEANING/PREPARATION</a:t>
            </a:r>
          </a:p>
        </p:txBody>
      </p:sp>
      <p:sp>
        <p:nvSpPr>
          <p:cNvPr id="3" name="Content Placeholder 2">
            <a:extLst>
              <a:ext uri="{FF2B5EF4-FFF2-40B4-BE49-F238E27FC236}">
                <a16:creationId xmlns:a16="http://schemas.microsoft.com/office/drawing/2014/main" id="{DC56CB9D-6790-A53C-6B30-737B1DEA5407}"/>
              </a:ext>
            </a:extLst>
          </p:cNvPr>
          <p:cNvSpPr>
            <a:spLocks noGrp="1"/>
          </p:cNvSpPr>
          <p:nvPr>
            <p:ph idx="1"/>
          </p:nvPr>
        </p:nvSpPr>
        <p:spPr/>
        <p:txBody>
          <a:bodyPr>
            <a:normAutofit fontScale="92500"/>
          </a:bodyPr>
          <a:lstStyle/>
          <a:p>
            <a:r>
              <a:rPr lang="en-US" dirty="0">
                <a:latin typeface="Rockwell" panose="02060603020205020403" pitchFamily="18" charset="0"/>
              </a:rPr>
              <a:t>The dataset was in an Excel file format and loaded into Power Bi</a:t>
            </a:r>
          </a:p>
          <a:p>
            <a:r>
              <a:rPr lang="en-US" dirty="0">
                <a:latin typeface="Rockwell" panose="02060603020205020403" pitchFamily="18" charset="0"/>
              </a:rPr>
              <a:t>Removed the “Global Sales” column to avoid duplicate totals after restructuring the data.</a:t>
            </a:r>
          </a:p>
          <a:p>
            <a:r>
              <a:rPr lang="en-US" dirty="0">
                <a:latin typeface="Rockwell" panose="02060603020205020403" pitchFamily="18" charset="0"/>
              </a:rPr>
              <a:t>Unpivoted the NA Sales, EU Sales, JP Sales and Other Sales column into separate Region and Sales Columns. </a:t>
            </a:r>
          </a:p>
          <a:p>
            <a:r>
              <a:rPr lang="en-US" dirty="0">
                <a:latin typeface="Rockwell" panose="02060603020205020403" pitchFamily="18" charset="0"/>
              </a:rPr>
              <a:t>Region column was cleaned by removing underscores from category names. </a:t>
            </a:r>
          </a:p>
          <a:p>
            <a:r>
              <a:rPr lang="en-US" dirty="0">
                <a:latin typeface="Rockwell" panose="02060603020205020403" pitchFamily="18" charset="0"/>
              </a:rPr>
              <a:t>Filtered out records where the value  was listed as “N/A” </a:t>
            </a:r>
          </a:p>
          <a:p>
            <a:r>
              <a:rPr lang="en-US" dirty="0">
                <a:latin typeface="Rockwell" panose="02060603020205020403" pitchFamily="18" charset="0"/>
              </a:rPr>
              <a:t>Grouped the year data into decades to make sales trend easier to compare and visualize.</a:t>
            </a:r>
          </a:p>
        </p:txBody>
      </p:sp>
    </p:spTree>
    <p:extLst>
      <p:ext uri="{BB962C8B-B14F-4D97-AF65-F5344CB8AC3E}">
        <p14:creationId xmlns:p14="http://schemas.microsoft.com/office/powerpoint/2010/main" val="1322754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FCC25-17A1-956F-C673-010A0FA7EC30}"/>
              </a:ext>
            </a:extLst>
          </p:cNvPr>
          <p:cNvSpPr>
            <a:spLocks noGrp="1"/>
          </p:cNvSpPr>
          <p:nvPr>
            <p:ph type="title"/>
          </p:nvPr>
        </p:nvSpPr>
        <p:spPr>
          <a:xfrm>
            <a:off x="838200" y="273685"/>
            <a:ext cx="10515600" cy="1325563"/>
          </a:xfrm>
        </p:spPr>
        <p:txBody>
          <a:bodyPr/>
          <a:lstStyle/>
          <a:p>
            <a:pPr algn="ctr"/>
            <a:r>
              <a:rPr lang="en-US" b="1" dirty="0">
                <a:effectLst>
                  <a:outerShdw blurRad="38100" dist="38100" dir="2700000" algn="tl">
                    <a:srgbClr val="000000">
                      <a:alpha val="43137"/>
                    </a:srgbClr>
                  </a:outerShdw>
                </a:effectLst>
                <a:latin typeface="Bookman Old Style" panose="02050604050505020204" pitchFamily="18" charset="0"/>
              </a:rPr>
              <a:t>DASHBOARD</a:t>
            </a:r>
          </a:p>
        </p:txBody>
      </p:sp>
      <p:pic>
        <p:nvPicPr>
          <p:cNvPr id="7" name="Picture 6">
            <a:extLst>
              <a:ext uri="{FF2B5EF4-FFF2-40B4-BE49-F238E27FC236}">
                <a16:creationId xmlns:a16="http://schemas.microsoft.com/office/drawing/2014/main" id="{856888DB-53B8-370F-B4ED-1D71A35CD6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658" y="1344168"/>
            <a:ext cx="11497752" cy="5418581"/>
          </a:xfrm>
          <a:prstGeom prst="rect">
            <a:avLst/>
          </a:prstGeom>
        </p:spPr>
      </p:pic>
    </p:spTree>
    <p:extLst>
      <p:ext uri="{BB962C8B-B14F-4D97-AF65-F5344CB8AC3E}">
        <p14:creationId xmlns:p14="http://schemas.microsoft.com/office/powerpoint/2010/main" val="1334160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a:extLst>
            <a:ext uri="{FF2B5EF4-FFF2-40B4-BE49-F238E27FC236}">
              <a16:creationId xmlns:a16="http://schemas.microsoft.com/office/drawing/2014/main" id="{CFD1441B-0029-1E2E-32C4-5F41065F51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0EAFDA-48DC-7F4E-7E2E-B6B982A91976}"/>
              </a:ext>
            </a:extLst>
          </p:cNvPr>
          <p:cNvSpPr>
            <a:spLocks noGrp="1"/>
          </p:cNvSpPr>
          <p:nvPr>
            <p:ph type="title"/>
          </p:nvPr>
        </p:nvSpPr>
        <p:spPr>
          <a:xfrm>
            <a:off x="838200" y="218821"/>
            <a:ext cx="10515600" cy="1325563"/>
          </a:xfrm>
        </p:spPr>
        <p:txBody>
          <a:bodyPr/>
          <a:lstStyle/>
          <a:p>
            <a:pPr algn="ctr"/>
            <a:r>
              <a:rPr lang="en-US" b="1" dirty="0">
                <a:effectLst>
                  <a:outerShdw blurRad="38100" dist="38100" dir="2700000" algn="tl">
                    <a:srgbClr val="000000">
                      <a:alpha val="43137"/>
                    </a:srgbClr>
                  </a:outerShdw>
                </a:effectLst>
                <a:latin typeface="Bookman Old Style" panose="02050604050505020204" pitchFamily="18" charset="0"/>
              </a:rPr>
              <a:t>DETAILED DASHBOARD</a:t>
            </a:r>
          </a:p>
        </p:txBody>
      </p:sp>
      <p:pic>
        <p:nvPicPr>
          <p:cNvPr id="4" name="Picture 3">
            <a:extLst>
              <a:ext uri="{FF2B5EF4-FFF2-40B4-BE49-F238E27FC236}">
                <a16:creationId xmlns:a16="http://schemas.microsoft.com/office/drawing/2014/main" id="{F6A52F5F-5E5F-91E4-76E6-F1E5B62193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672" y="1354456"/>
            <a:ext cx="10974053" cy="5408293"/>
          </a:xfrm>
          <a:prstGeom prst="rect">
            <a:avLst/>
          </a:prstGeom>
        </p:spPr>
      </p:pic>
    </p:spTree>
    <p:extLst>
      <p:ext uri="{BB962C8B-B14F-4D97-AF65-F5344CB8AC3E}">
        <p14:creationId xmlns:p14="http://schemas.microsoft.com/office/powerpoint/2010/main" val="2187066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a:extLst>
            <a:ext uri="{FF2B5EF4-FFF2-40B4-BE49-F238E27FC236}">
              <a16:creationId xmlns:a16="http://schemas.microsoft.com/office/drawing/2014/main" id="{57F97876-6213-831A-7F02-BCF1085F81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3514CF-075E-840D-707E-DB74D582B14E}"/>
              </a:ext>
            </a:extLst>
          </p:cNvPr>
          <p:cNvSpPr>
            <a:spLocks noGrp="1"/>
          </p:cNvSpPr>
          <p:nvPr>
            <p:ph type="title"/>
          </p:nvPr>
        </p:nvSpPr>
        <p:spPr>
          <a:xfrm>
            <a:off x="717430" y="2228430"/>
            <a:ext cx="10515600" cy="1325563"/>
          </a:xfrm>
        </p:spPr>
        <p:txBody>
          <a:bodyPr>
            <a:normAutofit/>
          </a:bodyPr>
          <a:lstStyle/>
          <a:p>
            <a:pPr algn="ctr"/>
            <a:r>
              <a:rPr lang="en-US" sz="6600" b="1" dirty="0">
                <a:effectLst>
                  <a:outerShdw blurRad="38100" dist="38100" dir="2700000" algn="tl">
                    <a:srgbClr val="000000">
                      <a:alpha val="43137"/>
                    </a:srgbClr>
                  </a:outerShdw>
                </a:effectLst>
                <a:latin typeface="Bookman Old Style" panose="02050604050505020204" pitchFamily="18" charset="0"/>
              </a:rPr>
              <a:t>INSIGHTS</a:t>
            </a:r>
          </a:p>
        </p:txBody>
      </p:sp>
    </p:spTree>
    <p:extLst>
      <p:ext uri="{BB962C8B-B14F-4D97-AF65-F5344CB8AC3E}">
        <p14:creationId xmlns:p14="http://schemas.microsoft.com/office/powerpoint/2010/main" val="3983358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a:extLst>
            <a:ext uri="{FF2B5EF4-FFF2-40B4-BE49-F238E27FC236}">
              <a16:creationId xmlns:a16="http://schemas.microsoft.com/office/drawing/2014/main" id="{4DE898BB-4AD6-76B2-DAB4-31BF436BD7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5CE5BB-8A05-338E-E279-B59FFF34F5A2}"/>
              </a:ext>
            </a:extLst>
          </p:cNvPr>
          <p:cNvSpPr>
            <a:spLocks noGrp="1"/>
          </p:cNvSpPr>
          <p:nvPr>
            <p:ph type="title"/>
          </p:nvPr>
        </p:nvSpPr>
        <p:spPr/>
        <p:txBody>
          <a:bodyPr/>
          <a:lstStyle/>
          <a:p>
            <a:pPr algn="ctr"/>
            <a:r>
              <a:rPr lang="en-US" b="1" dirty="0">
                <a:effectLst>
                  <a:outerShdw blurRad="38100" dist="38100" dir="2700000" algn="tl">
                    <a:srgbClr val="000000">
                      <a:alpha val="43137"/>
                    </a:srgbClr>
                  </a:outerShdw>
                </a:effectLst>
                <a:latin typeface="Bookman Old Style" panose="02050604050505020204" pitchFamily="18" charset="0"/>
              </a:rPr>
              <a:t>KEY FINDINGS BY GENRE</a:t>
            </a:r>
          </a:p>
        </p:txBody>
      </p:sp>
      <p:sp>
        <p:nvSpPr>
          <p:cNvPr id="8" name="TextBox 7">
            <a:extLst>
              <a:ext uri="{FF2B5EF4-FFF2-40B4-BE49-F238E27FC236}">
                <a16:creationId xmlns:a16="http://schemas.microsoft.com/office/drawing/2014/main" id="{D6BE8B46-38FD-7A90-DCD1-2A3BC25F8500}"/>
              </a:ext>
            </a:extLst>
          </p:cNvPr>
          <p:cNvSpPr txBox="1"/>
          <p:nvPr/>
        </p:nvSpPr>
        <p:spPr>
          <a:xfrm>
            <a:off x="1616364" y="1690688"/>
            <a:ext cx="9171709" cy="286232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Rockwell" panose="02060603020205020403" pitchFamily="18" charset="0"/>
              </a:rPr>
              <a:t>Action games led all video game genres in global sales. North America dominated with roughly half of all Action game purchases, while Europe followed with 30%. The remaining share was split between other markets at 10.74% and Japan at 9.21%.</a:t>
            </a:r>
          </a:p>
          <a:p>
            <a:pPr marL="285750" indent="-285750">
              <a:buFont typeface="Arial" panose="020B0604020202020204" pitchFamily="34" charset="0"/>
              <a:buChar char="•"/>
            </a:pPr>
            <a:r>
              <a:rPr lang="en-US" dirty="0">
                <a:latin typeface="Rockwell" panose="02060603020205020403" pitchFamily="18" charset="0"/>
              </a:rPr>
              <a:t>The top-selling game within the Action genre was Assassin's Creed 3, with 6.2 million units sold in North America alone and total global sales of 13.10 million units.</a:t>
            </a:r>
          </a:p>
          <a:p>
            <a:pPr marL="285750" indent="-285750">
              <a:buFont typeface="Arial" panose="020B0604020202020204" pitchFamily="34" charset="0"/>
              <a:buChar char="•"/>
            </a:pPr>
            <a:r>
              <a:rPr lang="en-US" dirty="0">
                <a:latin typeface="Rockwell" panose="02060603020205020403" pitchFamily="18" charset="0"/>
              </a:rPr>
              <a:t>Action game sales peaked in 2012, with the PS3 leading all platforms at 6.5 million units sold.</a:t>
            </a:r>
          </a:p>
          <a:p>
            <a:endParaRPr lang="en-US" dirty="0">
              <a:latin typeface="Rockwell" panose="02060603020205020403" pitchFamily="18" charset="0"/>
            </a:endParaRPr>
          </a:p>
        </p:txBody>
      </p:sp>
      <p:sp>
        <p:nvSpPr>
          <p:cNvPr id="9" name="TextBox 8">
            <a:extLst>
              <a:ext uri="{FF2B5EF4-FFF2-40B4-BE49-F238E27FC236}">
                <a16:creationId xmlns:a16="http://schemas.microsoft.com/office/drawing/2014/main" id="{62979C73-8CB4-9EC2-3456-34D4F40B29E2}"/>
              </a:ext>
            </a:extLst>
          </p:cNvPr>
          <p:cNvSpPr txBox="1"/>
          <p:nvPr/>
        </p:nvSpPr>
        <p:spPr>
          <a:xfrm>
            <a:off x="1263074" y="1321356"/>
            <a:ext cx="1911927" cy="369332"/>
          </a:xfrm>
          <a:prstGeom prst="rect">
            <a:avLst/>
          </a:prstGeom>
          <a:noFill/>
        </p:spPr>
        <p:txBody>
          <a:bodyPr wrap="square" rtlCol="0">
            <a:spAutoFit/>
          </a:bodyPr>
          <a:lstStyle/>
          <a:p>
            <a:r>
              <a:rPr lang="en-US" b="1" dirty="0">
                <a:latin typeface="Rockwell" panose="02060603020205020403" pitchFamily="18" charset="0"/>
              </a:rPr>
              <a:t>#1 Action</a:t>
            </a:r>
          </a:p>
        </p:txBody>
      </p:sp>
      <p:sp>
        <p:nvSpPr>
          <p:cNvPr id="10" name="TextBox 9">
            <a:extLst>
              <a:ext uri="{FF2B5EF4-FFF2-40B4-BE49-F238E27FC236}">
                <a16:creationId xmlns:a16="http://schemas.microsoft.com/office/drawing/2014/main" id="{ECEC46DD-AF9E-C58F-5134-F59265726A45}"/>
              </a:ext>
            </a:extLst>
          </p:cNvPr>
          <p:cNvSpPr txBox="1"/>
          <p:nvPr/>
        </p:nvSpPr>
        <p:spPr>
          <a:xfrm>
            <a:off x="1263073" y="4368344"/>
            <a:ext cx="1911927" cy="369332"/>
          </a:xfrm>
          <a:prstGeom prst="rect">
            <a:avLst/>
          </a:prstGeom>
          <a:noFill/>
        </p:spPr>
        <p:txBody>
          <a:bodyPr wrap="square" rtlCol="0">
            <a:spAutoFit/>
          </a:bodyPr>
          <a:lstStyle/>
          <a:p>
            <a:r>
              <a:rPr lang="en-US" b="1" dirty="0">
                <a:latin typeface="Rockwell" panose="02060603020205020403" pitchFamily="18" charset="0"/>
              </a:rPr>
              <a:t>#2 Sports</a:t>
            </a:r>
          </a:p>
        </p:txBody>
      </p:sp>
      <p:sp>
        <p:nvSpPr>
          <p:cNvPr id="11" name="TextBox 10">
            <a:extLst>
              <a:ext uri="{FF2B5EF4-FFF2-40B4-BE49-F238E27FC236}">
                <a16:creationId xmlns:a16="http://schemas.microsoft.com/office/drawing/2014/main" id="{C74E3987-99F6-70AE-899E-878DCF54C66D}"/>
              </a:ext>
            </a:extLst>
          </p:cNvPr>
          <p:cNvSpPr txBox="1"/>
          <p:nvPr/>
        </p:nvSpPr>
        <p:spPr>
          <a:xfrm>
            <a:off x="2309091" y="4553010"/>
            <a:ext cx="8146473" cy="2031325"/>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Rockwell" panose="02060603020205020403" pitchFamily="18" charset="0"/>
              </a:rPr>
              <a:t>Globally, Sports games finished second in genre sales behind Action. North America accounted for the largest share at 670.09 million units, with Europe contributing 371.34 million, Japan 134.76 million, and other markets 132.65 million units sold.</a:t>
            </a:r>
          </a:p>
          <a:p>
            <a:pPr marL="285750" indent="-285750">
              <a:buFont typeface="Arial" panose="020B0604020202020204" pitchFamily="34" charset="0"/>
              <a:buChar char="•"/>
            </a:pPr>
            <a:r>
              <a:rPr lang="en-US" dirty="0">
                <a:latin typeface="Rockwell" panose="02060603020205020403" pitchFamily="18" charset="0"/>
              </a:rPr>
              <a:t>Within the Sports genre, FIFA 12 topped sales performance, with Europe accounting for the highest regional sales at 8.5 million units. The PS3 led all platforms at 6.69 million units sold.</a:t>
            </a:r>
          </a:p>
        </p:txBody>
      </p:sp>
    </p:spTree>
    <p:extLst>
      <p:ext uri="{BB962C8B-B14F-4D97-AF65-F5344CB8AC3E}">
        <p14:creationId xmlns:p14="http://schemas.microsoft.com/office/powerpoint/2010/main" val="590989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9A391-ED5B-ACA9-E37C-71EE5F37008D}"/>
              </a:ext>
            </a:extLst>
          </p:cNvPr>
          <p:cNvSpPr>
            <a:spLocks noGrp="1"/>
          </p:cNvSpPr>
          <p:nvPr>
            <p:ph type="title"/>
          </p:nvPr>
        </p:nvSpPr>
        <p:spPr>
          <a:xfrm>
            <a:off x="838200" y="359387"/>
            <a:ext cx="10515600" cy="1325563"/>
          </a:xfrm>
        </p:spPr>
        <p:txBody>
          <a:bodyPr>
            <a:normAutofit fontScale="90000"/>
          </a:bodyPr>
          <a:lstStyle/>
          <a:p>
            <a:pPr algn="ctr">
              <a:buNone/>
            </a:pPr>
            <a:r>
              <a:rPr lang="en-US" b="1" dirty="0">
                <a:effectLst>
                  <a:outerShdw blurRad="38100" dist="38100" dir="2700000" algn="tl">
                    <a:srgbClr val="000000">
                      <a:alpha val="43137"/>
                    </a:srgbClr>
                  </a:outerShdw>
                </a:effectLst>
                <a:latin typeface="Bookman Old Style" panose="02050604050505020204" pitchFamily="18" charset="0"/>
              </a:rPr>
              <a:t>Top-Performing Games Across Action &amp; Sports Genres by Platform</a:t>
            </a:r>
          </a:p>
        </p:txBody>
      </p:sp>
      <p:pic>
        <p:nvPicPr>
          <p:cNvPr id="4" name="Picture 3" descr="This may contain: the cover art for the video game, assassin's crediii on ps3">
            <a:extLst>
              <a:ext uri="{FF2B5EF4-FFF2-40B4-BE49-F238E27FC236}">
                <a16:creationId xmlns:a16="http://schemas.microsoft.com/office/drawing/2014/main" id="{344BC23A-AE4F-03C4-01BD-F9DA69A05371}"/>
              </a:ext>
            </a:extLst>
          </p:cNvPr>
          <p:cNvPicPr>
            <a:picLocks noChangeAspect="1"/>
          </p:cNvPicPr>
          <p:nvPr/>
        </p:nvPicPr>
        <p:blipFill>
          <a:blip r:embed="rId3"/>
          <a:stretch>
            <a:fillRect/>
          </a:stretch>
        </p:blipFill>
        <p:spPr>
          <a:xfrm>
            <a:off x="982505" y="1684951"/>
            <a:ext cx="4208332" cy="4844476"/>
          </a:xfrm>
          <a:prstGeom prst="rect">
            <a:avLst/>
          </a:prstGeom>
        </p:spPr>
      </p:pic>
      <p:pic>
        <p:nvPicPr>
          <p:cNvPr id="5" name="Picture 4" descr="This may contain: the cover art for the video game ea sports 12, featuring two men in soccer uniforms">
            <a:extLst>
              <a:ext uri="{FF2B5EF4-FFF2-40B4-BE49-F238E27FC236}">
                <a16:creationId xmlns:a16="http://schemas.microsoft.com/office/drawing/2014/main" id="{4F09D1E1-CB3C-B55A-86BD-B4BC063D283E}"/>
              </a:ext>
            </a:extLst>
          </p:cNvPr>
          <p:cNvPicPr>
            <a:picLocks noChangeAspect="1"/>
          </p:cNvPicPr>
          <p:nvPr/>
        </p:nvPicPr>
        <p:blipFill>
          <a:blip r:embed="rId4"/>
          <a:stretch>
            <a:fillRect/>
          </a:stretch>
        </p:blipFill>
        <p:spPr>
          <a:xfrm>
            <a:off x="6503215" y="1684950"/>
            <a:ext cx="4214695" cy="4844477"/>
          </a:xfrm>
          <a:prstGeom prst="rect">
            <a:avLst/>
          </a:prstGeom>
        </p:spPr>
      </p:pic>
      <p:sp>
        <p:nvSpPr>
          <p:cNvPr id="6" name="TextBox 5">
            <a:extLst>
              <a:ext uri="{FF2B5EF4-FFF2-40B4-BE49-F238E27FC236}">
                <a16:creationId xmlns:a16="http://schemas.microsoft.com/office/drawing/2014/main" id="{8046749A-8D9B-2B0B-20EF-64F56596EEFE}"/>
              </a:ext>
            </a:extLst>
          </p:cNvPr>
          <p:cNvSpPr txBox="1"/>
          <p:nvPr/>
        </p:nvSpPr>
        <p:spPr>
          <a:xfrm>
            <a:off x="2279074" y="6498613"/>
            <a:ext cx="1911927" cy="369332"/>
          </a:xfrm>
          <a:prstGeom prst="rect">
            <a:avLst/>
          </a:prstGeom>
          <a:noFill/>
        </p:spPr>
        <p:txBody>
          <a:bodyPr wrap="square" rtlCol="0">
            <a:spAutoFit/>
          </a:bodyPr>
          <a:lstStyle/>
          <a:p>
            <a:r>
              <a:rPr lang="en-US" b="1" dirty="0">
                <a:latin typeface="Rockwell" panose="02060603020205020403" pitchFamily="18" charset="0"/>
              </a:rPr>
              <a:t>#1 Action</a:t>
            </a:r>
          </a:p>
        </p:txBody>
      </p:sp>
      <p:sp>
        <p:nvSpPr>
          <p:cNvPr id="7" name="TextBox 6">
            <a:extLst>
              <a:ext uri="{FF2B5EF4-FFF2-40B4-BE49-F238E27FC236}">
                <a16:creationId xmlns:a16="http://schemas.microsoft.com/office/drawing/2014/main" id="{B4952DD1-63F4-2EF5-61B7-CF0D01361EDB}"/>
              </a:ext>
            </a:extLst>
          </p:cNvPr>
          <p:cNvSpPr txBox="1"/>
          <p:nvPr/>
        </p:nvSpPr>
        <p:spPr>
          <a:xfrm>
            <a:off x="8001001" y="6488668"/>
            <a:ext cx="1911927" cy="369332"/>
          </a:xfrm>
          <a:prstGeom prst="rect">
            <a:avLst/>
          </a:prstGeom>
          <a:noFill/>
        </p:spPr>
        <p:txBody>
          <a:bodyPr wrap="square" rtlCol="0">
            <a:spAutoFit/>
          </a:bodyPr>
          <a:lstStyle/>
          <a:p>
            <a:r>
              <a:rPr lang="en-US" b="1" dirty="0">
                <a:latin typeface="Rockwell" panose="02060603020205020403" pitchFamily="18" charset="0"/>
              </a:rPr>
              <a:t>#2 Sports</a:t>
            </a:r>
          </a:p>
        </p:txBody>
      </p:sp>
    </p:spTree>
    <p:extLst>
      <p:ext uri="{BB962C8B-B14F-4D97-AF65-F5344CB8AC3E}">
        <p14:creationId xmlns:p14="http://schemas.microsoft.com/office/powerpoint/2010/main" val="4000854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a:extLst>
            <a:ext uri="{FF2B5EF4-FFF2-40B4-BE49-F238E27FC236}">
              <a16:creationId xmlns:a16="http://schemas.microsoft.com/office/drawing/2014/main" id="{348891AF-3A40-8B9D-36A5-9DF1650D23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52CD94-8ABF-4985-812E-EFDB1507C8FE}"/>
              </a:ext>
            </a:extLst>
          </p:cNvPr>
          <p:cNvSpPr>
            <a:spLocks noGrp="1"/>
          </p:cNvSpPr>
          <p:nvPr>
            <p:ph type="title"/>
          </p:nvPr>
        </p:nvSpPr>
        <p:spPr/>
        <p:txBody>
          <a:bodyPr/>
          <a:lstStyle/>
          <a:p>
            <a:pPr algn="ctr"/>
            <a:r>
              <a:rPr lang="en-US" b="1" dirty="0">
                <a:effectLst>
                  <a:outerShdw blurRad="38100" dist="38100" dir="2700000" algn="tl">
                    <a:srgbClr val="000000">
                      <a:alpha val="43137"/>
                    </a:srgbClr>
                  </a:outerShdw>
                </a:effectLst>
                <a:latin typeface="Bookman Old Style" panose="02050604050505020204" pitchFamily="18" charset="0"/>
              </a:rPr>
              <a:t>PLATFORM AND PUBLISHER FINDINGS</a:t>
            </a:r>
          </a:p>
        </p:txBody>
      </p:sp>
      <p:sp>
        <p:nvSpPr>
          <p:cNvPr id="5" name="TextBox 4">
            <a:extLst>
              <a:ext uri="{FF2B5EF4-FFF2-40B4-BE49-F238E27FC236}">
                <a16:creationId xmlns:a16="http://schemas.microsoft.com/office/drawing/2014/main" id="{A9B79B04-A9C7-2A62-9DFE-9CBA6DCE7979}"/>
              </a:ext>
            </a:extLst>
          </p:cNvPr>
          <p:cNvSpPr txBox="1"/>
          <p:nvPr/>
        </p:nvSpPr>
        <p:spPr>
          <a:xfrm>
            <a:off x="27021" y="1518123"/>
            <a:ext cx="6539345" cy="147732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Rockwell" panose="02060603020205020403" pitchFamily="18" charset="0"/>
              </a:rPr>
              <a:t>Among all platforms, the PlayStation 2 dominated total sales at approximately 1,233.46 million units. Close behind, the Xbox 360 claimed second place with 969.61 million units, followed by the PlayStation 3 at 949.35 million units sold.</a:t>
            </a:r>
          </a:p>
        </p:txBody>
      </p:sp>
      <p:pic>
        <p:nvPicPr>
          <p:cNvPr id="7" name="Picture 6">
            <a:extLst>
              <a:ext uri="{FF2B5EF4-FFF2-40B4-BE49-F238E27FC236}">
                <a16:creationId xmlns:a16="http://schemas.microsoft.com/office/drawing/2014/main" id="{480E5142-FE3E-3091-DA97-209A4F5827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870" y="3839399"/>
            <a:ext cx="5431598" cy="2790001"/>
          </a:xfrm>
          <a:prstGeom prst="rect">
            <a:avLst/>
          </a:prstGeom>
        </p:spPr>
      </p:pic>
      <p:pic>
        <p:nvPicPr>
          <p:cNvPr id="9" name="Picture 8">
            <a:extLst>
              <a:ext uri="{FF2B5EF4-FFF2-40B4-BE49-F238E27FC236}">
                <a16:creationId xmlns:a16="http://schemas.microsoft.com/office/drawing/2014/main" id="{A4986B48-10BD-E536-DFC7-141737B2C6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4870" y="3063241"/>
            <a:ext cx="5725324" cy="708368"/>
          </a:xfrm>
          <a:prstGeom prst="rect">
            <a:avLst/>
          </a:prstGeom>
        </p:spPr>
      </p:pic>
      <p:sp>
        <p:nvSpPr>
          <p:cNvPr id="10" name="TextBox 9">
            <a:extLst>
              <a:ext uri="{FF2B5EF4-FFF2-40B4-BE49-F238E27FC236}">
                <a16:creationId xmlns:a16="http://schemas.microsoft.com/office/drawing/2014/main" id="{899F9846-7ED8-674A-3025-58D5E81BE3B8}"/>
              </a:ext>
            </a:extLst>
          </p:cNvPr>
          <p:cNvSpPr txBox="1"/>
          <p:nvPr/>
        </p:nvSpPr>
        <p:spPr>
          <a:xfrm>
            <a:off x="7391781" y="1841289"/>
            <a:ext cx="4476750" cy="2308324"/>
          </a:xfrm>
          <a:prstGeom prst="rect">
            <a:avLst/>
          </a:prstGeom>
          <a:noFill/>
        </p:spPr>
        <p:txBody>
          <a:bodyPr wrap="square" rtlCol="0">
            <a:spAutoFit/>
          </a:bodyPr>
          <a:lstStyle/>
          <a:p>
            <a:pPr marL="285750" indent="-285750" algn="r">
              <a:buFont typeface="Arial" panose="020B0604020202020204" pitchFamily="34" charset="0"/>
              <a:buChar char="•"/>
            </a:pPr>
            <a:r>
              <a:rPr lang="en-US" dirty="0">
                <a:latin typeface="Rockwell" panose="02060603020205020403" pitchFamily="18" charset="0"/>
              </a:rPr>
              <a:t>Nintendo led all publishers with 1,784.43 million units sold, ahead of Electronic Arts at 1,093.39 million and Activision at 721.41 million units. While Sony held dominance in platform sales, Nintendo's publisher performance stood in a league of its own.</a:t>
            </a:r>
          </a:p>
        </p:txBody>
      </p:sp>
      <p:pic>
        <p:nvPicPr>
          <p:cNvPr id="12" name="Picture 11">
            <a:extLst>
              <a:ext uri="{FF2B5EF4-FFF2-40B4-BE49-F238E27FC236}">
                <a16:creationId xmlns:a16="http://schemas.microsoft.com/office/drawing/2014/main" id="{AC7E09AE-687D-508D-0BF2-29409E39A17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33380" y="4184551"/>
            <a:ext cx="5853629" cy="2524378"/>
          </a:xfrm>
          <a:prstGeom prst="rect">
            <a:avLst/>
          </a:prstGeom>
        </p:spPr>
      </p:pic>
    </p:spTree>
    <p:extLst>
      <p:ext uri="{BB962C8B-B14F-4D97-AF65-F5344CB8AC3E}">
        <p14:creationId xmlns:p14="http://schemas.microsoft.com/office/powerpoint/2010/main" val="40433619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a:extLst>
            <a:ext uri="{FF2B5EF4-FFF2-40B4-BE49-F238E27FC236}">
              <a16:creationId xmlns:a16="http://schemas.microsoft.com/office/drawing/2014/main" id="{13EFC542-336D-0E50-9F2F-DA59FF9582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1DDFDF-376B-585E-4A34-C609BFC3DF8B}"/>
              </a:ext>
            </a:extLst>
          </p:cNvPr>
          <p:cNvSpPr>
            <a:spLocks noGrp="1"/>
          </p:cNvSpPr>
          <p:nvPr>
            <p:ph type="title"/>
          </p:nvPr>
        </p:nvSpPr>
        <p:spPr>
          <a:xfrm>
            <a:off x="838200" y="154813"/>
            <a:ext cx="10515600" cy="1325563"/>
          </a:xfrm>
        </p:spPr>
        <p:txBody>
          <a:bodyPr/>
          <a:lstStyle/>
          <a:p>
            <a:pPr algn="ctr"/>
            <a:r>
              <a:rPr lang="en-US" b="1" dirty="0">
                <a:effectLst>
                  <a:outerShdw blurRad="38100" dist="38100" dir="2700000" algn="tl">
                    <a:srgbClr val="000000">
                      <a:alpha val="43137"/>
                    </a:srgbClr>
                  </a:outerShdw>
                </a:effectLst>
                <a:latin typeface="Bookman Old Style" panose="02050604050505020204" pitchFamily="18" charset="0"/>
              </a:rPr>
              <a:t>REGIONAL SALES FINDINGS</a:t>
            </a:r>
          </a:p>
        </p:txBody>
      </p:sp>
      <p:sp>
        <p:nvSpPr>
          <p:cNvPr id="3" name="TextBox 2">
            <a:extLst>
              <a:ext uri="{FF2B5EF4-FFF2-40B4-BE49-F238E27FC236}">
                <a16:creationId xmlns:a16="http://schemas.microsoft.com/office/drawing/2014/main" id="{1BB7BA19-9096-0DB1-ECB6-AB7A6367CA7B}"/>
              </a:ext>
            </a:extLst>
          </p:cNvPr>
          <p:cNvSpPr txBox="1"/>
          <p:nvPr/>
        </p:nvSpPr>
        <p:spPr>
          <a:xfrm>
            <a:off x="283464" y="1329554"/>
            <a:ext cx="5450586" cy="5078313"/>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Rockwell" panose="02060603020205020403" pitchFamily="18" charset="0"/>
              </a:rPr>
              <a:t>North America led global video game sales, with Europe, Japan, and other markets following behind.</a:t>
            </a:r>
          </a:p>
          <a:p>
            <a:endParaRPr lang="en-US" dirty="0">
              <a:latin typeface="Rockwell" panose="02060603020205020403" pitchFamily="18" charset="0"/>
            </a:endParaRPr>
          </a:p>
          <a:p>
            <a:pPr marL="285750" indent="-285750">
              <a:buFont typeface="Arial" panose="020B0604020202020204" pitchFamily="34" charset="0"/>
              <a:buChar char="•"/>
            </a:pPr>
            <a:r>
              <a:rPr lang="en-US" dirty="0">
                <a:latin typeface="Rockwell" panose="02060603020205020403" pitchFamily="18" charset="0"/>
              </a:rPr>
              <a:t>Action games dominated in both North America and Europe, reflecting strong Western demand for the genre. North America alone made up roughly half of all Action game sales worldwide, with Europe contributing around 30%. Japan, however, leaned heavily toward Role-Playing games, which moved approximately 350.29 million units and outpaced every other genre in the region.</a:t>
            </a:r>
          </a:p>
          <a:p>
            <a:endParaRPr lang="en-US" dirty="0">
              <a:latin typeface="Rockwell" panose="02060603020205020403" pitchFamily="18" charset="0"/>
            </a:endParaRPr>
          </a:p>
          <a:p>
            <a:pPr marL="285750" indent="-285750">
              <a:buFont typeface="Arial" panose="020B0604020202020204" pitchFamily="34" charset="0"/>
              <a:buChar char="•"/>
            </a:pPr>
            <a:r>
              <a:rPr lang="en-US" dirty="0">
                <a:latin typeface="Rockwell" panose="02060603020205020403" pitchFamily="18" charset="0"/>
              </a:rPr>
              <a:t>Taken together, these figures highlight that genre preferences differ meaningfully across markets and cannot be assumed to be uniform globally.</a:t>
            </a:r>
          </a:p>
        </p:txBody>
      </p:sp>
      <p:pic>
        <p:nvPicPr>
          <p:cNvPr id="5" name="Picture 4">
            <a:extLst>
              <a:ext uri="{FF2B5EF4-FFF2-40B4-BE49-F238E27FC236}">
                <a16:creationId xmlns:a16="http://schemas.microsoft.com/office/drawing/2014/main" id="{0D29FBD2-544F-A5A0-C2DD-6C211669B7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00606" y="851220"/>
            <a:ext cx="1007930" cy="1037272"/>
          </a:xfrm>
          <a:prstGeom prst="rect">
            <a:avLst/>
          </a:prstGeom>
        </p:spPr>
      </p:pic>
      <p:pic>
        <p:nvPicPr>
          <p:cNvPr id="7" name="Picture 6">
            <a:extLst>
              <a:ext uri="{FF2B5EF4-FFF2-40B4-BE49-F238E27FC236}">
                <a16:creationId xmlns:a16="http://schemas.microsoft.com/office/drawing/2014/main" id="{B624C5CF-320B-3F12-083A-75D5B439B1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51754" y="2011680"/>
            <a:ext cx="6457950" cy="4121867"/>
          </a:xfrm>
          <a:prstGeom prst="rect">
            <a:avLst/>
          </a:prstGeom>
        </p:spPr>
      </p:pic>
    </p:spTree>
    <p:extLst>
      <p:ext uri="{BB962C8B-B14F-4D97-AF65-F5344CB8AC3E}">
        <p14:creationId xmlns:p14="http://schemas.microsoft.com/office/powerpoint/2010/main" val="790792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a:extLst>
            <a:ext uri="{FF2B5EF4-FFF2-40B4-BE49-F238E27FC236}">
              <a16:creationId xmlns:a16="http://schemas.microsoft.com/office/drawing/2014/main" id="{3687A812-BD3B-6766-A909-C56C020733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F6433C-2811-3BB7-37E4-DEEB6EFDD653}"/>
              </a:ext>
            </a:extLst>
          </p:cNvPr>
          <p:cNvSpPr>
            <a:spLocks noGrp="1"/>
          </p:cNvSpPr>
          <p:nvPr>
            <p:ph type="title"/>
          </p:nvPr>
        </p:nvSpPr>
        <p:spPr/>
        <p:txBody>
          <a:bodyPr/>
          <a:lstStyle/>
          <a:p>
            <a:pPr algn="ctr"/>
            <a:r>
              <a:rPr lang="en-US" b="1" dirty="0">
                <a:effectLst>
                  <a:outerShdw blurRad="38100" dist="38100" dir="2700000" algn="tl">
                    <a:srgbClr val="000000">
                      <a:alpha val="43137"/>
                    </a:srgbClr>
                  </a:outerShdw>
                </a:effectLst>
                <a:latin typeface="Bookman Old Style" panose="02050604050505020204" pitchFamily="18" charset="0"/>
              </a:rPr>
              <a:t>RECOMMENDATIONS</a:t>
            </a:r>
          </a:p>
        </p:txBody>
      </p:sp>
      <p:sp>
        <p:nvSpPr>
          <p:cNvPr id="3" name="TextBox 2">
            <a:extLst>
              <a:ext uri="{FF2B5EF4-FFF2-40B4-BE49-F238E27FC236}">
                <a16:creationId xmlns:a16="http://schemas.microsoft.com/office/drawing/2014/main" id="{CEF7BB21-0B6B-B685-DE5A-D26207355CD0}"/>
              </a:ext>
            </a:extLst>
          </p:cNvPr>
          <p:cNvSpPr txBox="1"/>
          <p:nvPr/>
        </p:nvSpPr>
        <p:spPr>
          <a:xfrm>
            <a:off x="1325880" y="1901000"/>
            <a:ext cx="9372600" cy="2862322"/>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Rockwell" panose="02060603020205020403" pitchFamily="18" charset="0"/>
              </a:rPr>
              <a:t>When targeting North American and European audiences, publishers should focus their efforts on Action and Shooter titles</a:t>
            </a:r>
          </a:p>
          <a:p>
            <a:endParaRPr lang="en-US" sz="2000" dirty="0">
              <a:latin typeface="Rockwell" panose="02060603020205020403" pitchFamily="18" charset="0"/>
            </a:endParaRPr>
          </a:p>
          <a:p>
            <a:pPr marL="285750" indent="-285750">
              <a:buFont typeface="Arial" panose="020B0604020202020204" pitchFamily="34" charset="0"/>
              <a:buChar char="•"/>
            </a:pPr>
            <a:r>
              <a:rPr lang="en-US" sz="2000" dirty="0">
                <a:latin typeface="Rockwell" panose="02060603020205020403" pitchFamily="18" charset="0"/>
              </a:rPr>
              <a:t>Role-Playing games should receive greater marketing and development focus in Japan.</a:t>
            </a:r>
          </a:p>
          <a:p>
            <a:endParaRPr lang="en-US" sz="2000" dirty="0">
              <a:latin typeface="Rockwell" panose="02060603020205020403" pitchFamily="18" charset="0"/>
            </a:endParaRPr>
          </a:p>
          <a:p>
            <a:pPr marL="285750" indent="-285750">
              <a:buFont typeface="Arial" panose="020B0604020202020204" pitchFamily="34" charset="0"/>
              <a:buChar char="•"/>
            </a:pPr>
            <a:r>
              <a:rPr lang="en-US" sz="2000" dirty="0">
                <a:latin typeface="Rockwell" panose="02060603020205020403" pitchFamily="18" charset="0"/>
              </a:rPr>
              <a:t>Companies should leverage region specific sales data to tailor their release strategies, advertising, and platform decisions instead of relying on a single global approach.</a:t>
            </a:r>
          </a:p>
        </p:txBody>
      </p:sp>
    </p:spTree>
    <p:extLst>
      <p:ext uri="{BB962C8B-B14F-4D97-AF65-F5344CB8AC3E}">
        <p14:creationId xmlns:p14="http://schemas.microsoft.com/office/powerpoint/2010/main" val="11721055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a:extLst>
            <a:ext uri="{FF2B5EF4-FFF2-40B4-BE49-F238E27FC236}">
              <a16:creationId xmlns:a16="http://schemas.microsoft.com/office/drawing/2014/main" id="{72BADBC5-D100-05F5-69AA-C38A0BCEEC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7BC08A-F461-4E5A-C644-89B7C3CCDA2B}"/>
              </a:ext>
            </a:extLst>
          </p:cNvPr>
          <p:cNvSpPr>
            <a:spLocks noGrp="1"/>
          </p:cNvSpPr>
          <p:nvPr>
            <p:ph type="title"/>
          </p:nvPr>
        </p:nvSpPr>
        <p:spPr>
          <a:xfrm>
            <a:off x="838200" y="2274150"/>
            <a:ext cx="10515600" cy="1325563"/>
          </a:xfrm>
        </p:spPr>
        <p:txBody>
          <a:bodyPr>
            <a:normAutofit/>
          </a:bodyPr>
          <a:lstStyle/>
          <a:p>
            <a:pPr algn="ctr"/>
            <a:r>
              <a:rPr lang="en-US" sz="6600" b="1" dirty="0">
                <a:effectLst>
                  <a:outerShdw blurRad="38100" dist="38100" dir="2700000" algn="tl">
                    <a:srgbClr val="000000">
                      <a:alpha val="43137"/>
                    </a:srgbClr>
                  </a:outerShdw>
                </a:effectLst>
                <a:latin typeface="Bookman Old Style" panose="02050604050505020204" pitchFamily="18" charset="0"/>
              </a:rPr>
              <a:t>THANK YOU!</a:t>
            </a:r>
          </a:p>
        </p:txBody>
      </p:sp>
    </p:spTree>
    <p:extLst>
      <p:ext uri="{BB962C8B-B14F-4D97-AF65-F5344CB8AC3E}">
        <p14:creationId xmlns:p14="http://schemas.microsoft.com/office/powerpoint/2010/main" val="30448149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D93C2445EE99445B840F1111D98991A" ma:contentTypeVersion="4" ma:contentTypeDescription="Create a new document." ma:contentTypeScope="" ma:versionID="196ec49f846f859dedafc984cdb98912">
  <xsd:schema xmlns:xsd="http://www.w3.org/2001/XMLSchema" xmlns:xs="http://www.w3.org/2001/XMLSchema" xmlns:p="http://schemas.microsoft.com/office/2006/metadata/properties" xmlns:ns3="3f05d359-1c2f-406f-8097-dd5a96f6df8f" targetNamespace="http://schemas.microsoft.com/office/2006/metadata/properties" ma:root="true" ma:fieldsID="ccb5d26851a8a3da9bfc646729b3fed7" ns3:_="">
    <xsd:import namespace="3f05d359-1c2f-406f-8097-dd5a96f6df8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05d359-1c2f-406f-8097-dd5a96f6df8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3F124E2-E689-49DC-9742-FA2EED444FE9}">
  <ds:schemaRefs>
    <ds:schemaRef ds:uri="http://schemas.openxmlformats.org/package/2006/metadata/core-properties"/>
    <ds:schemaRef ds:uri="http://schemas.microsoft.com/office/2006/documentManagement/types"/>
    <ds:schemaRef ds:uri="3f05d359-1c2f-406f-8097-dd5a96f6df8f"/>
    <ds:schemaRef ds:uri="http://schemas.microsoft.com/office/infopath/2007/PartnerControls"/>
    <ds:schemaRef ds:uri="http://purl.org/dc/terms/"/>
    <ds:schemaRef ds:uri="http://purl.org/dc/dcmitype/"/>
    <ds:schemaRef ds:uri="http://purl.org/dc/elements/1.1/"/>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779863DA-4B52-419D-A5D7-B7D97FDA0581}">
  <ds:schemaRefs>
    <ds:schemaRef ds:uri="http://schemas.microsoft.com/sharepoint/v3/contenttype/forms"/>
  </ds:schemaRefs>
</ds:datastoreItem>
</file>

<file path=customXml/itemProps3.xml><?xml version="1.0" encoding="utf-8"?>
<ds:datastoreItem xmlns:ds="http://schemas.openxmlformats.org/officeDocument/2006/customXml" ds:itemID="{D2085AE1-84CB-4D17-A08D-28EFB5C548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05d359-1c2f-406f-8097-dd5a96f6df8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213</TotalTime>
  <Words>745</Words>
  <Application>Microsoft Office PowerPoint</Application>
  <PresentationFormat>Widescreen</PresentationFormat>
  <Paragraphs>59</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Bookman Old Style</vt:lpstr>
      <vt:lpstr>Rockwell</vt:lpstr>
      <vt:lpstr>Office Theme</vt:lpstr>
      <vt:lpstr>Video Games Sales Dashboard Insights</vt:lpstr>
      <vt:lpstr>PROJECT DESCRIPTION</vt:lpstr>
      <vt:lpstr>OVERVIEW</vt:lpstr>
      <vt:lpstr>RESEARCH QUESTIONS</vt:lpstr>
      <vt:lpstr>DATA CLEANING/PREPARATION</vt:lpstr>
      <vt:lpstr>DASHBOARD</vt:lpstr>
      <vt:lpstr>DETAILED DASHBOARD</vt:lpstr>
      <vt:lpstr>INSIGHTS</vt:lpstr>
      <vt:lpstr>KEY FINDINGS BY GENRE</vt:lpstr>
      <vt:lpstr>Top-Performing Games Across Action &amp; Sports Genres by Platform</vt:lpstr>
      <vt:lpstr>PLATFORM AND PUBLISHER FINDINGS</vt:lpstr>
      <vt:lpstr>REGIONAL SALES FINDINGS</vt:lpstr>
      <vt:lpstr>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 Akal</dc:creator>
  <cp:lastModifiedBy>Abdul Akal</cp:lastModifiedBy>
  <cp:revision>2</cp:revision>
  <dcterms:created xsi:type="dcterms:W3CDTF">2026-06-20T23:30:18Z</dcterms:created>
  <dcterms:modified xsi:type="dcterms:W3CDTF">2026-06-21T06:17:24Z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0x010100BD93C2445EE99445B840F1111D98991A</vt:lpwstr>
  </property>
</Properties>
</file>